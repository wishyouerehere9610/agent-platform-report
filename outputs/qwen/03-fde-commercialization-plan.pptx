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FieldPilot AI - FDE Commercialization Plan</a:t>
            </a:r>
          </a:p>
          <a:p>
            <a:pPr algn="ctr">
              <a:defRPr sz="2000">
                <a:solidFill>
                  <a:srgbClr val="A0C0E0"/>
                </a:solidFill>
              </a:defRPr>
            </a:pPr>
            <a:r>
              <a:t>90-Day GTM Strategy &amp; Industry Prioritization | Confidential Draft | 2026-08-25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Objective: Sign 3 paid pilots within 90 days, build &gt;=5M RMB qualified pipeline</a:t>
            </a:r>
          </a:p>
          <a:p>
            <a:pPr>
              <a:spcAft>
                <a:spcPts val="800"/>
              </a:spcAft>
              <a:defRPr sz="1600"/>
            </a:pPr>
            <a:r>
              <a:t>Priority Industries: Manufacturing + Financial Services (scored #1 and #2)</a:t>
            </a:r>
          </a:p>
          <a:p>
            <a:pPr>
              <a:spcAft>
                <a:spcPts val="800"/>
              </a:spcAft>
              <a:defRPr sz="1600"/>
            </a:pPr>
            <a:r>
              <a:t>Team: 8 FDEs, 4 Platform Engineers, 3 Enterprise Sales, 8M RMB budget</a:t>
            </a:r>
          </a:p>
          <a:p>
            <a:pPr>
              <a:spcAft>
                <a:spcPts val="800"/>
              </a:spcAft>
              <a:defRPr sz="1600"/>
            </a:pPr>
            <a:r>
              <a:t>Pilot Model: 2 FDEs x 45 days per engagement, 350K RMB per pilot</a:t>
            </a:r>
          </a:p>
          <a:p>
            <a:pPr>
              <a:spcAft>
                <a:spcPts val="800"/>
              </a:spcAft>
              <a:defRPr sz="1600"/>
            </a:pPr>
            <a:r>
              <a:t>12-Month Target: &gt;=55% gross margin, 13+ pilot equivalents annual capacity</a:t>
            </a:r>
          </a:p>
          <a:p>
            <a:pPr>
              <a:spcAft>
                <a:spcPts val="800"/>
              </a:spcAft>
              <a:defRPr sz="1600"/>
            </a:pPr>
            <a:r>
              <a:t>Key Risk: 40% of manufacturing AI Agent projects fail (Gartner); compliance in financial services</a:t>
            </a:r>
          </a:p>
          <a:p>
            <a:pPr>
              <a:spcAft>
                <a:spcPts val="800"/>
              </a:spcAft>
              <a:defRPr sz="1600"/>
            </a:pPr>
            <a:r>
              <a:t>Action: Begin outbound to 10 target accounts in Week 1; close 3 pilots by Day 90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Industry Prioritization Scoring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</a:tblGrid>
              <a:tr h="75764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Industry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TAM Growth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Data Ready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FDE Fit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Willingness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Competition(inv)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#1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Financial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#2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Retail/E-commerce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#3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Enterprise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#4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Healthcare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#5</a:t>
                      </a:r>
                    </a:p>
                  </a:txBody>
                  <a:tcPr/>
                </a:tc>
              </a:tr>
              <a:tr h="757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Professional Svcs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#6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Why Manufacturing &amp; Financial Services?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MANUFACTURING (Score 4.35 - Rank #1):</a:t>
            </a:r>
          </a:p>
          <a:p>
            <a:pPr>
              <a:spcAft>
                <a:spcPts val="800"/>
              </a:spcAft>
              <a:defRPr sz="1600"/>
            </a:pPr>
            <a:r>
              <a:t>  - 2026 market 204B RMB, &gt;70% YoY growth; 54% manufacturers already deployed AI Agents</a:t>
            </a:r>
          </a:p>
          <a:p>
            <a:pPr>
              <a:spcAft>
                <a:spcPts val="800"/>
              </a:spcAft>
              <a:defRPr sz="1600"/>
            </a:pPr>
            <a:r>
              <a:t>  - FDE model perfectly matches: browser automation for MES/ERP, desktop ops for QC systems</a:t>
            </a:r>
          </a:p>
          <a:p>
            <a:pPr>
              <a:spcAft>
                <a:spcPts val="800"/>
              </a:spcAft>
              <a:defRPr sz="1600"/>
            </a:pPr>
            <a:r>
              <a:t>  - Proven cases: Seres, Sanhua reduced labor hours significantly with Agent deployment</a:t>
            </a:r>
          </a:p>
          <a:p>
            <a:pPr>
              <a:spcAft>
                <a:spcPts val="800"/>
              </a:spcAft>
              <a:defRPr sz="1600"/>
            </a:pPr>
            <a:r>
              <a:t>  - Private deployment feasible; operational safety boundary well-defined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FINANCIAL SERVICES (Score 4.05 - Rank #2):</a:t>
            </a:r>
          </a:p>
          <a:p>
            <a:pPr>
              <a:spcAft>
                <a:spcPts val="800"/>
              </a:spcAft>
              <a:defRPr sz="1600"/>
            </a:pPr>
            <a:r>
              <a:t>  - 2025 contracts 9.5B RMB, CAGR 82.6%; Bank 43% / Asset Mgmt 27% / Insurance 15%</a:t>
            </a:r>
          </a:p>
          <a:p>
            <a:pPr>
              <a:spcAft>
                <a:spcPts val="800"/>
              </a:spcAft>
              <a:defRPr sz="1600"/>
            </a:pPr>
            <a:r>
              <a:t>  - High willingness to pay: 30-150K per pilot, evidence-based trial approach</a:t>
            </a:r>
          </a:p>
          <a:p>
            <a:pPr>
              <a:spcAft>
                <a:spcPts val="800"/>
              </a:spcAft>
              <a:defRPr sz="1600"/>
            </a:pPr>
            <a:r>
              <a:t>  - Research/compliance/service workflows ideal for Agent automation</a:t>
            </a:r>
          </a:p>
          <a:p>
            <a:pPr>
              <a:spcAft>
                <a:spcPts val="800"/>
              </a:spcAft>
              <a:defRPr sz="1600"/>
            </a:pPr>
            <a:r>
              <a:t>  - Risk: model risk regulation, data privacy, longer sales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Why NOT Healthcare (#5):</a:t>
            </a:r>
          </a:p>
          <a:p>
            <a:pPr>
              <a:spcAft>
                <a:spcPts val="800"/>
              </a:spcAft>
              <a:defRPr sz="1600"/>
            </a:pPr>
            <a:r>
              <a:t>  - Data readiness lowest (2/5): EMR standards uneven, severe silos</a:t>
            </a:r>
          </a:p>
          <a:p>
            <a:pPr>
              <a:spcAft>
                <a:spcPts val="800"/>
              </a:spcAft>
              <a:defRPr sz="1600"/>
            </a:pPr>
            <a:r>
              <a:t>  - Compliance barrier highest: patient safety, medical privacy, insurance regulation</a:t>
            </a:r>
          </a:p>
          <a:p>
            <a:pPr>
              <a:spcAft>
                <a:spcPts val="800"/>
              </a:spcAft>
              <a:defRPr sz="1600"/>
            </a:pPr>
            <a:r>
              <a:t>  - Clinical risk too high for early FDE model; non-clinical admin too small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Why NOT Retail/E-commerce (#3):</a:t>
            </a:r>
          </a:p>
          <a:p>
            <a:pPr>
              <a:spcAft>
                <a:spcPts val="800"/>
              </a:spcAft>
              <a:defRPr sz="1600"/>
            </a:pPr>
            <a:r>
              <a:t>  - Competition too intense (4/5): many SaaS tools, low switching cost</a:t>
            </a:r>
          </a:p>
          <a:p>
            <a:pPr>
              <a:spcAft>
                <a:spcPts val="800"/>
              </a:spcAft>
              <a:defRPr sz="1600"/>
            </a:pPr>
            <a:r>
              <a:t>  - Low margins limit willingness to pay (3/5)</a:t>
            </a:r>
          </a:p>
          <a:p>
            <a:pPr>
              <a:spcAft>
                <a:spcPts val="800"/>
              </a:spcAft>
              <a:defRPr sz="1600"/>
            </a:pPr>
            <a:r>
              <a:t>  - May reconsider as secondary vertical after Q2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Why NOT Enterprise Software (#4):</a:t>
            </a:r>
          </a:p>
          <a:p>
            <a:pPr>
              <a:spcAft>
                <a:spcPts val="800"/>
              </a:spcAft>
              <a:defRPr sz="1600"/>
            </a:pPr>
            <a:r>
              <a:t>  - Good FDE fit but thin SaaS margins limit payment ability</a:t>
            </a:r>
          </a:p>
          <a:p>
            <a:pPr>
              <a:spcAft>
                <a:spcPts val="800"/>
              </a:spcAft>
              <a:defRPr sz="1600"/>
            </a:pPr>
            <a:r>
              <a:t>  - Partnership model more viable than direct FDE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Top 10 Target Accounts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48213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Industry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Entry Point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Seres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&gt;100B rev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QC Agent, supply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COO/Plant Ops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Sanhua Holdings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Global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Procurement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COO/Procurement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Midea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Fortune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Smart scheduling, QC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CIO/Smart Mfg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Haier COSMOPlat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MIIT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Supply chain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CTO/Platform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Top Joint-Stock 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&gt;10T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Research auto,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CIO/Retail Banking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Top Securities Firm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&gt;1.3T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Research data,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CIO/Research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Top Insurance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Fortune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Claims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CIO/Operations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Top E-commerce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&gt;1T rev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Service, content, 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CMO/Operations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Chain Retail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800+ stores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Store ops, supply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COO/Digital</a:t>
                      </a:r>
                    </a:p>
                  </a:txBody>
                  <a:tcPr/>
                </a:tc>
              </a:tr>
              <a:tr h="4821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Heavy Mfg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Global 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Predictive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COO/CIO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Service Package &amp; Pilot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PILOT PACKAGE (45 days, 2 FDEs):</a:t>
            </a:r>
          </a:p>
          <a:p>
            <a:pPr>
              <a:spcAft>
                <a:spcPts val="800"/>
              </a:spcAft>
              <a:defRPr sz="1600"/>
            </a:pPr>
            <a:r>
              <a:t>  Week 1-2: Discovery &amp; system mapping - connect knowledge base, map workflows</a:t>
            </a:r>
          </a:p>
          <a:p>
            <a:pPr>
              <a:spcAft>
                <a:spcPts val="800"/>
              </a:spcAft>
              <a:defRPr sz="1600"/>
            </a:pPr>
            <a:r>
              <a:t>  Week 3-4: Agent development - build 2-3 targeted automation agents</a:t>
            </a:r>
          </a:p>
          <a:p>
            <a:pPr>
              <a:spcAft>
                <a:spcPts val="800"/>
              </a:spcAft>
              <a:defRPr sz="1600"/>
            </a:pPr>
            <a:r>
              <a:t>  Week 5-6: Integration &amp; testing - connect to business systems, UAT</a:t>
            </a:r>
          </a:p>
          <a:p>
            <a:pPr>
              <a:spcAft>
                <a:spcPts val="800"/>
              </a:spcAft>
              <a:defRPr sz="1600"/>
            </a:pPr>
            <a:r>
              <a:t>  Week 7: Training &amp; handover - operator training, documentation</a:t>
            </a:r>
          </a:p>
          <a:p>
            <a:pPr>
              <a:spcAft>
                <a:spcPts val="800"/>
              </a:spcAft>
              <a:defRPr sz="1600"/>
            </a:pPr>
            <a:r>
              <a:t>  Week 8: Acceptance &amp; review - KPI validation, expansion proposal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SERVICE BOUNDARIES:</a:t>
            </a:r>
          </a:p>
          <a:p>
            <a:pPr>
              <a:spcAft>
                <a:spcPts val="800"/>
              </a:spcAft>
              <a:defRPr sz="1600"/>
            </a:pPr>
            <a:r>
              <a:t>  In scope: Workflow automation, browser/desktop agents, data integration, reporting</a:t>
            </a:r>
          </a:p>
          <a:p>
            <a:pPr>
              <a:spcAft>
                <a:spcPts val="800"/>
              </a:spcAft>
              <a:defRPr sz="1600"/>
            </a:pPr>
            <a:r>
              <a:t>  Out of scope: Core system modification, production safety-critical controls</a:t>
            </a:r>
          </a:p>
          <a:p>
            <a:pPr>
              <a:spcAft>
                <a:spcPts val="800"/>
              </a:spcAft>
              <a:defRPr sz="1600"/>
            </a:pPr>
            <a:r>
              <a:t>  Client responsibility: System access, data provision, domain expert time</a:t>
            </a:r>
          </a:p>
          <a:p>
            <a:pPr>
              <a:spcAft>
                <a:spcPts val="800"/>
              </a:spcAft>
              <a:defRPr sz="1600"/>
            </a:pPr>
            <a:r>
              <a:t>  FieldPilot responsibility: Agent development, integration, training,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ACCEPTANCE CRITERIA:</a:t>
            </a:r>
          </a:p>
          <a:p>
            <a:pPr>
              <a:spcAft>
                <a:spcPts val="800"/>
              </a:spcAft>
              <a:defRPr sz="1600"/>
            </a:pPr>
            <a:r>
              <a:t>  - &gt;=60% reduction in target workflow processing time</a:t>
            </a:r>
          </a:p>
          <a:p>
            <a:pPr>
              <a:spcAft>
                <a:spcPts val="800"/>
              </a:spcAft>
              <a:defRPr sz="1600"/>
            </a:pPr>
            <a:r>
              <a:t>  - &gt;=3 automated agents deployed and operational</a:t>
            </a:r>
          </a:p>
          <a:p>
            <a:pPr>
              <a:spcAft>
                <a:spcPts val="800"/>
              </a:spcAft>
              <a:defRPr sz="1600"/>
            </a:pPr>
            <a:r>
              <a:t>  - Integration with at least 1 core business system verified</a:t>
            </a:r>
          </a:p>
          <a:p>
            <a:pPr>
              <a:spcAft>
                <a:spcPts val="800"/>
              </a:spcAft>
              <a:defRPr sz="1600"/>
            </a:pPr>
            <a:r>
              <a:t>  - Operator training completed with &gt;=80% pass rate</a:t>
            </a:r>
          </a:p>
          <a:p>
            <a:pPr>
              <a:spcAft>
                <a:spcPts val="800"/>
              </a:spcAft>
              <a:defRPr sz="1600"/>
            </a:pPr>
            <a:r>
              <a:t>  - Documentation package delivered (runbook, API spec, architecture)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PRICING:</a:t>
            </a:r>
          </a:p>
          <a:p>
            <a:pPr>
              <a:spcAft>
                <a:spcPts val="800"/>
              </a:spcAft>
              <a:defRPr sz="1600"/>
            </a:pPr>
            <a:r>
              <a:t>  Pilot fee: 350,000 RMB (covers 2 FDE x 45 days + tooling)</a:t>
            </a:r>
          </a:p>
          <a:p>
            <a:pPr>
              <a:spcAft>
                <a:spcPts val="800"/>
              </a:spcAft>
              <a:defRPr sz="1600"/>
            </a:pPr>
            <a:r>
              <a:t>  Additional FDE day: 5,000 RMB/day</a:t>
            </a:r>
          </a:p>
          <a:p>
            <a:pPr>
              <a:spcAft>
                <a:spcPts val="800"/>
              </a:spcAft>
              <a:defRPr sz="1600"/>
            </a:pPr>
            <a:r>
              <a:t>  Annual platform license: 100,000 RMB/month (post-pilot)</a:t>
            </a:r>
          </a:p>
          <a:p>
            <a:pPr>
              <a:spcAft>
                <a:spcPts val="800"/>
              </a:spcAft>
              <a:defRPr sz="1600"/>
            </a:pPr>
            <a:r>
              <a:t>  Expansion project: 500,000 RMB per 45-day 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Revenue &amp; Gross Margin Model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53035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Q3-Q4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Full Year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Paid pilots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13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Revenue per pilot (RMB)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Pilot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1,050,000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5,650,000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Platform/subscription 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800,000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1,050,000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1,800,000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6,450,000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Variable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-1,200,000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-1,280,000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-1,920,000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-4,400,000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Fixed personnel (allocated)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-2,970,000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-2,970,000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-5,940,000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-11,880,000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Gross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-3,120,000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-2,450,000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-4,260,000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-9,830,000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Note: Y1 investment phase; margin target achievable at scale from 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90-Day GTM Execution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75764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Activities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Day 1-14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Sales playbook, demo env, target account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Sales + FDE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 accounts qualified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Day 15-30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Executive briefings, workshop invitations, POC proposals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Sales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 meetings booked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Pilot Kick-off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Day 31-45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Sign 3 pilots, deploy FDE teams, system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FDE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pilots active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Day 46-75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Agent development, integration, weekly check-ins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FDE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pilots delivered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Acceptance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Day 76-90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KPI review, case study, expansion proposals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FDE +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case studies</a:t>
                      </a:r>
                    </a:p>
                  </a:txBody>
                  <a:tcPr/>
                </a:tc>
              </a:tr>
              <a:tr h="757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Pipeline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Day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Pipeline &gt;= 5M, expansion deals, new targets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Sales + 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Pipeline report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Sales Funnel &amp; Team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SALES FUNNEL (90-day target):</a:t>
            </a:r>
          </a:p>
          <a:p>
            <a:pPr>
              <a:spcAft>
                <a:spcPts val="800"/>
              </a:spcAft>
              <a:defRPr sz="1600"/>
            </a:pPr>
            <a:r>
              <a:t>  Target accounts identified: 10 (Manufacturing 6, Financial 4)</a:t>
            </a:r>
          </a:p>
          <a:p>
            <a:pPr>
              <a:spcAft>
                <a:spcPts val="800"/>
              </a:spcAft>
              <a:defRPr sz="1600"/>
            </a:pPr>
            <a:r>
              <a:t>  Qualified meetings: 15 (conversion rate ~50% from outreach)</a:t>
            </a:r>
          </a:p>
          <a:p>
            <a:pPr>
              <a:spcAft>
                <a:spcPts val="800"/>
              </a:spcAft>
              <a:defRPr sz="1600"/>
            </a:pPr>
            <a:r>
              <a:t>  Proposals submitted: 8 (conversion rate ~53% from meetings)</a:t>
            </a:r>
          </a:p>
          <a:p>
            <a:pPr>
              <a:spcAft>
                <a:spcPts val="800"/>
              </a:spcAft>
              <a:defRPr sz="1600"/>
            </a:pPr>
            <a:r>
              <a:t>  Paid pilots signed: 3 (conversion rate ~38% from proposals)</a:t>
            </a:r>
          </a:p>
          <a:p>
            <a:pPr>
              <a:spcAft>
                <a:spcPts val="800"/>
              </a:spcAft>
              <a:defRPr sz="1600"/>
            </a:pPr>
            <a:r>
              <a:t>  Qualified pipeline value: &gt;= 5,000,000 RMB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TEAM ALLOCATION:</a:t>
            </a:r>
          </a:p>
          <a:p>
            <a:pPr>
              <a:spcAft>
                <a:spcPts val="800"/>
              </a:spcAft>
              <a:defRPr sz="1600"/>
            </a:pPr>
            <a:r>
              <a:t>  FDE Team (8): 6 on pilot delivery + 2 on pre-sales/demo support</a:t>
            </a:r>
          </a:p>
          <a:p>
            <a:pPr>
              <a:spcAft>
                <a:spcPts val="800"/>
              </a:spcAft>
              <a:defRPr sz="1600"/>
            </a:pPr>
            <a:r>
              <a:t>  Platform (4): Integration framework, connector library, security review</a:t>
            </a:r>
          </a:p>
          <a:p>
            <a:pPr>
              <a:spcAft>
                <a:spcPts val="800"/>
              </a:spcAft>
              <a:defRPr sz="1600"/>
            </a:pPr>
            <a:r>
              <a:t>  Sales (3): 1 Manufacturing vertical lead, 1 Financial vertical lead, 1 SDR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HIRING PLAN (if Q2 targets exceed capacity):</a:t>
            </a:r>
          </a:p>
          <a:p>
            <a:pPr>
              <a:spcAft>
                <a:spcPts val="800"/>
              </a:spcAft>
              <a:defRPr sz="1600"/>
            </a:pPr>
            <a:r>
              <a:t>  +2 FDEs by Month 4 (lead time 60 days)</a:t>
            </a:r>
          </a:p>
          <a:p>
            <a:pPr>
              <a:spcAft>
                <a:spcPts val="800"/>
              </a:spcAft>
              <a:defRPr sz="1600"/>
            </a:pPr>
            <a:r>
              <a:t>  +1 Sales by Month 5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KEY METRICS:</a:t>
            </a:r>
          </a:p>
          <a:p>
            <a:pPr>
              <a:spcAft>
                <a:spcPts val="800"/>
              </a:spcAft>
              <a:defRPr sz="1600"/>
            </a:pPr>
            <a:r>
              <a:t>  Pipeline velocity: target 30-day close cycle for pilots</a:t>
            </a:r>
          </a:p>
          <a:p>
            <a:pPr>
              <a:spcAft>
                <a:spcPts val="800"/>
              </a:spcAft>
              <a:defRPr sz="1600"/>
            </a:pPr>
            <a:r>
              <a:t>  CAC payback: &lt;6 months at 350K pilot price</a:t>
            </a:r>
          </a:p>
          <a:p>
            <a:pPr>
              <a:spcAft>
                <a:spcPts val="800"/>
              </a:spcAft>
              <a:defRPr sz="1600"/>
            </a:pPr>
            <a:r>
              <a:t>  NRR target: &gt;130% (pilot-to-expansion conversion)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RISK CONTROLS:</a:t>
            </a:r>
          </a:p>
          <a:p>
            <a:pPr>
              <a:spcAft>
                <a:spcPts val="800"/>
              </a:spcAft>
              <a:defRPr sz="1600"/>
            </a:pPr>
            <a:r>
              <a:t>  Weekly pipeline review with management</a:t>
            </a:r>
          </a:p>
          <a:p>
            <a:pPr>
              <a:spcAft>
                <a:spcPts val="800"/>
              </a:spcAft>
              <a:defRPr sz="1600"/>
            </a:pPr>
            <a:r>
              <a:t>  Pilot NPS &gt;= 8 required for expansion proposal</a:t>
            </a:r>
          </a:p>
          <a:p>
            <a:pPr>
              <a:spcAft>
                <a:spcPts val="800"/>
              </a:spcAft>
              <a:defRPr sz="1600"/>
            </a:pPr>
            <a:r>
              <a:t>  Kill switch: stop if 2/3 pilots fail acceptance criteria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Tool &amp; Automation Boundary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5892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Browser Ops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Desktop Ops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API/Connector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Manual Approval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Client Auth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Web research &amp; 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ERP/MES system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via API if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for write 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required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Document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Email/calendar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for send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required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Compliance data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if API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review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required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Knowledge base 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required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Financial report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review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required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Client system write-back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ALWAYS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Risk Management &amp; Compliance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MANUFACTURING RISKS:</a:t>
            </a:r>
          </a:p>
          <a:p>
            <a:pPr>
              <a:spcAft>
                <a:spcPts val="800"/>
              </a:spcAft>
              <a:defRPr sz="1600"/>
            </a:pPr>
            <a:r>
              <a:t>  - 40% of AI Agent projects fail (Gartner); mitigate with narrow scope &amp; clear KPIs</a:t>
            </a:r>
          </a:p>
          <a:p>
            <a:pPr>
              <a:spcAft>
                <a:spcPts val="800"/>
              </a:spcAft>
              <a:defRPr sz="1600"/>
            </a:pPr>
            <a:r>
              <a:t>  - Production safety: FDE agents NEVER touch safety-critical controls</a:t>
            </a:r>
          </a:p>
          <a:p>
            <a:pPr>
              <a:spcAft>
                <a:spcPts val="800"/>
              </a:spcAft>
              <a:defRPr sz="1600"/>
            </a:pPr>
            <a:r>
              <a:t>  - Data boundary: all processing on-premise or private cloud; no PII extraction</a:t>
            </a:r>
          </a:p>
          <a:p>
            <a:pPr>
              <a:spcAft>
                <a:spcPts val="800"/>
              </a:spcAft>
              <a:defRPr sz="1600"/>
            </a:pPr>
            <a:r>
              <a:t>  - IP protection: client data stays in client environment; model isolation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FINANCIAL SERVICES RISKS:</a:t>
            </a:r>
          </a:p>
          <a:p>
            <a:pPr>
              <a:spcAft>
                <a:spcPts val="800"/>
              </a:spcAft>
              <a:defRPr sz="1600"/>
            </a:pPr>
            <a:r>
              <a:t>  - Model risk: all Agent outputs require human review for regulated decisions</a:t>
            </a:r>
          </a:p>
          <a:p>
            <a:pPr>
              <a:spcAft>
                <a:spcPts val="800"/>
              </a:spcAft>
              <a:defRPr sz="1600"/>
            </a:pPr>
            <a:r>
              <a:t>  - Data privacy: comply with PIPL, CBRC data governance requirements</a:t>
            </a:r>
          </a:p>
          <a:p>
            <a:pPr>
              <a:spcAft>
                <a:spcPts val="800"/>
              </a:spcAft>
              <a:defRPr sz="1600"/>
            </a:pPr>
            <a:r>
              <a:t>  - Audit trail: full logging of all Agent actions; immutable audit log</a:t>
            </a:r>
          </a:p>
          <a:p>
            <a:pPr>
              <a:spcAft>
                <a:spcPts val="800"/>
              </a:spcAft>
              <a:defRPr sz="1600"/>
            </a:pPr>
            <a:r>
              <a:t>  - Liability: explicit exclusion of Agent liability for trading/investment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REGULATORY BOUNDARIES:</a:t>
            </a:r>
          </a:p>
          <a:p>
            <a:pPr>
              <a:spcAft>
                <a:spcPts val="800"/>
              </a:spcAft>
              <a:defRPr sz="1600"/>
            </a:pPr>
            <a:r>
              <a:t>  - Manufacturing: GB/T 36073 data management; operational safety standards</a:t>
            </a:r>
          </a:p>
          <a:p>
            <a:pPr>
              <a:spcAft>
                <a:spcPts val="800"/>
              </a:spcAft>
              <a:defRPr sz="1600"/>
            </a:pPr>
            <a:r>
              <a:t>  - Financial: CBRC IT governance guidelines; model risk management framework</a:t>
            </a:r>
          </a:p>
          <a:p>
            <a:pPr>
              <a:spcAft>
                <a:spcPts val="800"/>
              </a:spcAft>
              <a:defRPr sz="1600"/>
            </a:pPr>
            <a:r>
              <a:t>  - Both: PIPL personal information protection; CSL cybersecurity law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INSURANCE &amp; LIABILITY:</a:t>
            </a:r>
          </a:p>
          <a:p>
            <a:pPr>
              <a:spcAft>
                <a:spcPts val="800"/>
              </a:spcAft>
              <a:defRPr sz="1600"/>
            </a:pPr>
            <a:r>
              <a:t>  - Professional liability insurance: &gt;= 5M RMB coverage</a:t>
            </a:r>
          </a:p>
          <a:p>
            <a:pPr>
              <a:spcAft>
                <a:spcPts val="800"/>
              </a:spcAft>
              <a:defRPr sz="1600"/>
            </a:pPr>
            <a:r>
              <a:t>  - Client indemnification for Agent-caused operational errors</a:t>
            </a:r>
          </a:p>
          <a:p>
            <a:pPr>
              <a:spcAft>
                <a:spcPts val="800"/>
              </a:spcAft>
              <a:defRPr sz="1600"/>
            </a:pPr>
            <a:r>
              <a:t>  - Force majeure: cloud outage, regulatory change, data breach protocol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ESCALATION: Any compliance incident -&gt; 24hr notification -&gt; joint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Next Steps &amp; Decision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IMMEDIATE (Week 1):</a:t>
            </a:r>
          </a:p>
          <a:p>
            <a:pPr>
              <a:spcAft>
                <a:spcPts val="800"/>
              </a:spcAft>
              <a:defRPr sz="1600"/>
            </a:pPr>
            <a:r>
              <a:t>  1. Management approval of industry prioritization (Manufacturing + Financial)</a:t>
            </a:r>
          </a:p>
          <a:p>
            <a:pPr>
              <a:spcAft>
                <a:spcPts val="800"/>
              </a:spcAft>
              <a:defRPr sz="1600"/>
            </a:pPr>
            <a:r>
              <a:t>  2. Finalize target account list &amp; assign vertical leads</a:t>
            </a:r>
          </a:p>
          <a:p>
            <a:pPr>
              <a:spcAft>
                <a:spcPts val="800"/>
              </a:spcAft>
              <a:defRPr sz="1600"/>
            </a:pPr>
            <a:r>
              <a:t>  3. Prepare demo environment with 2 reference use cases</a:t>
            </a:r>
          </a:p>
          <a:p>
            <a:pPr>
              <a:spcAft>
                <a:spcPts val="800"/>
              </a:spcAft>
              <a:defRPr sz="1600"/>
            </a:pPr>
            <a:r>
              <a:t>  4. Begin outbound to top 5 Manufacturing targets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DECISION POINTS:</a:t>
            </a:r>
          </a:p>
          <a:p>
            <a:pPr>
              <a:spcAft>
                <a:spcPts val="800"/>
              </a:spcAft>
              <a:defRPr sz="1600"/>
            </a:pPr>
            <a:r>
              <a:t>  Day 30: Pipeline review - proceed/adjust based on meeting conversion</a:t>
            </a:r>
          </a:p>
          <a:p>
            <a:pPr>
              <a:spcAft>
                <a:spcPts val="800"/>
              </a:spcAft>
              <a:defRPr sz="1600"/>
            </a:pPr>
            <a:r>
              <a:t>  Day 60: Mid-pilot review - address delivery issues early</a:t>
            </a:r>
          </a:p>
          <a:p>
            <a:pPr>
              <a:spcAft>
                <a:spcPts val="800"/>
              </a:spcAft>
              <a:defRPr sz="1600"/>
            </a:pPr>
            <a:r>
              <a:t>  Day 90: Go/No-Go on expansion - based on pilot acceptance &amp; case studies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SUCCESS CRITERIA FOR 90-DAY REVIEW:</a:t>
            </a:r>
          </a:p>
          <a:p>
            <a:pPr>
              <a:spcAft>
                <a:spcPts val="800"/>
              </a:spcAft>
              <a:defRPr sz="1600"/>
            </a:pPr>
            <a:r>
              <a:t>  - 3 paid pilots signed and delivered</a:t>
            </a:r>
          </a:p>
          <a:p>
            <a:pPr>
              <a:spcAft>
                <a:spcPts val="800"/>
              </a:spcAft>
              <a:defRPr sz="1600"/>
            </a:pPr>
            <a:r>
              <a:t>  - &gt;= 5M RMB qualified pipeline</a:t>
            </a:r>
          </a:p>
          <a:p>
            <a:pPr>
              <a:spcAft>
                <a:spcPts val="800"/>
              </a:spcAft>
              <a:defRPr sz="1600"/>
            </a:pPr>
            <a:r>
              <a:t>  - 2+ expansion proposals submitted</a:t>
            </a:r>
          </a:p>
          <a:p>
            <a:pPr>
              <a:spcAft>
                <a:spcPts val="800"/>
              </a:spcAft>
              <a:defRPr sz="1600"/>
            </a:pPr>
            <a:r>
              <a:t>  - Pilot NPS &gt;= 8 from all 3 clients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