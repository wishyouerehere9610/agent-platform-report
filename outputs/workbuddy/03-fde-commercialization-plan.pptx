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FieldPilot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9DC3E6"/>
                </a:solidFill>
                <a:latin typeface="Microsoft YaHei"/>
              </a:defRPr>
            </a:pPr>
            <a:r>
              <a:t>FDE 商业化方案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C7E7"/>
                </a:solidFill>
                <a:latin typeface="Microsoft YaHei"/>
              </a:defRPr>
            </a:pPr>
            <a:r>
              <a:t>面向管理层决策的行业优先级、目标客户、定价与GTM方案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DA0B5"/>
                </a:solidFill>
                <a:latin typeface="Microsoft YaHei"/>
              </a:defRPr>
            </a:pPr>
            <a:r>
              <a:t>2026年8月  |  Forward Deployed Engineer 商业化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核心结论与关键数字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优先行业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560320" cy="13716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目标企业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60320" cy="13716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150万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年度定价/客户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463040"/>
            <a:ext cx="2560320" cy="1371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综合毛利率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行业选择：基于7维加权评分框架，从6个候选行业中选定制造业（83.0分）和零售电商（84.7分）为优先行业。</a:t>
            </a:r>
          </a:p>
          <a:p>
            <a:pPr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商业目标：90天内签约3个付费试点（450万合同额+500万管线），12个月目标综合毛利率≥55%。</a:t>
            </a:r>
          </a:p>
          <a:p>
            <a:pPr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定价模型：试点35-50万/45天，年度60-180万/年，含FDE服务包+平台订阅。</a:t>
            </a:r>
          </a:p>
          <a:p>
            <a:pPr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团队配置：8名FDE年可用1232人天，支持13.7个试点等效，90天目标消耗270人天。</a:t>
            </a:r>
          </a:p>
          <a:p>
            <a:pPr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合规边界：受监管行业（金融、医疗）暂缓，优先行业以非核心决策流程切入，所有AI输出经人工审核。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行业优先级评分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7维加权评分框架 | 6个候选行业 | 选定2个优先行业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73152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行业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市场规模(20%)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AI适配(20%)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交付可行(15%)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监管(15%)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预算(10%)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竞争(10%)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产能(10%)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总分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制造业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优先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零售电商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84.7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优先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金融服务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暂缓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医疗健康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63.0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暂缓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企业软件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备选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专业服务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备选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  <a:latin typeface="Microsoft YaHei"/>
              </a:defRPr>
            </a:pPr>
            <a:r>
              <a:t>评分依据：市场规模（工信部/艾瑞/IIM报告）| AI适配度（FieldPilot能力匹配分析）| 交付可行性（2 FDE/45天约束）</a:t>
            </a:r>
          </a:p>
          <a:p>
            <a:pPr>
              <a:defRPr sz="1000" b="0">
                <a:solidFill>
                  <a:srgbClr val="808080"/>
                </a:solidFill>
                <a:latin typeface="Microsoft YaHei"/>
              </a:defRPr>
            </a:pPr>
            <a:r>
              <a:t>监管复杂度（金融监管总局/国家药监局/网信办公开文件）| 客户预算（行业IT支出公开数据）| 竞争烈度（市场观察）| 产能匹配（1232人天/年）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优先行业选择理由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制造业 + 零售电商 | 基于市场规模、AI适配度与交付可行性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制造业（加权 83.0 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市场规模：数字化转型1.76万亿(2025)→2.01万亿(2026)，增速14%+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AI适配：采购比价、质量文档、供应链分析与FieldPilot高度匹配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政策红利：AI+制造专项实施意见，智能工厂梯度培育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买家：COO/CIO/工厂运营，预算明确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监管：中等复杂度，数据隔离要求可控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切入点：中型制造企业（年收入10-50亿）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场景：采购自动化→质量报告→供应链研究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来源：工信部、艾瑞咨询、中宏网（4个来源）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86400" cy="54864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零售电商（加权 84.7 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市场规模：智慧零售300亿(2026)，即时零售万亿级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AI适配：选品分析、内容生成、客服自动化高度匹配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AI渗透率：超80%企业已部署AI，45.3%高频使用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买家：电商总经理/CMO/COO，决策快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监管：消费者数据保护与广告合规，门槛中等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切入点：中大型连锁零售和品牌电商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场景：内容生成→选品分析→客服自动化</a:t>
            </a:r>
          </a:p>
          <a:p>
            <a:pPr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来源：DoNews、IIM、CCFA、中商产业研究院（4个来源）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目标企业清单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10家企业 | 5家制造业 + 5家零售电商 | 基于公开年报与行业案例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463040"/>
          <a:ext cx="10058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731520"/>
                <a:gridCol w="1097280"/>
                <a:gridCol w="5029200"/>
                <a:gridCol w="1371600"/>
              </a:tblGrid>
              <a:tr h="4156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企业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行业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规模线索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适配场景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切入部门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美的集团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3000亿+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采购比价/质量文档/供应链分析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COO/CIO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三一重工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制造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800亿+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设备维护知识库/供应链/采购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CIO/灯塔工厂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宁德时代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3600亿+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供应链研究/质量文档/合规报告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CIO/供应链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海尔智家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制造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2000亿+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供应链/内容生成/客服自动化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CMO/CIO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汇川技术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制造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300亿+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采购比价/技术文档/供应链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CIO/运营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永辉超市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零售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700亿+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选品分析/库存分析/客服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COO/CIO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孩子王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零售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100亿+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选品/内容生成/会员运营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CMO/CIO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百果园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零售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100亿+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供应链/选品/门店运营报告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COO/CIO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锅圈食汇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零售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50亿+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选品/供应链/营销内容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COO/CIO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银泰商业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零售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100亿+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选品/内容生成/客服/竞品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CMO/CIO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808080"/>
                </a:solidFill>
                <a:latin typeface="Microsoft YaHei"/>
              </a:defRPr>
            </a:pPr>
            <a:r>
              <a:t>注：企业规模基于公开年报，不构成采购意向或合作状态的断言。详见 02-target-accounts.csv。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FDE 服务包与试点范围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45天交付周期 | 2名FDE/试点 | 明确验收标准与责任边界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4572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服务包内容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1. 工作流诊断与方案设计（第1-5天）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2. 系统接入与数据连接器配置（第6-15天）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3. AI Agent 定制与场景验证（第16-30天）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4. 用户培训与流程文档（第31-40天）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5. 验收交付与改进建议（第41-45天）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463040"/>
            <a:ext cx="36576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验收标准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1. ≥3个核心场景AI Agent稳定运行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2. 单场景自动化率≥60%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3. 端到端流程文档完整交付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4. 客户方≥2人完成培训认证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5. 安全审计通过（数据隔离验证）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6. 客户满意度评分≥4.0/5.0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463040"/>
            <a:ext cx="36576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责任边界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FieldPilot 负责：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Agent 配置与连接器开发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场景验证与流程文档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安全合规技术方案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客户 负责：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系统访问授权与数据提供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业务专家参与场景定义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验收测试与签字确认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定价与财务模型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试点定价 + 年度订阅 | 收入、成本、产能与毛利模型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371600"/>
                <a:gridCol w="1371600"/>
                <a:gridCol w="22860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试点(万/45天)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年度(万/年)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成本(万)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毛利率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FDE服务包-标准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 FDE×45天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FDE服务包-高级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含平台工程师支持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平台订阅-基础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基础连接器+SSO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平台订阅-企业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高级连接器+审计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加权综合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目标≥55%毛利率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931920"/>
            <a:ext cx="5303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12个月收入预测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0-90天：3个试点×150万/年 = 450万合同额 + 500万管线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90-180天：3个试点 = 450万 + 600万管线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180-365天：4个试点 = 600万 + 800万管线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12个月合计：10个试点，1500万合同额，1900万管线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消耗FDE人天：900天（占可用1232天的73%）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931920"/>
            <a:ext cx="54864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产能与毛利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4805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年可用FDE人天：1,232天（8人×220天×70%）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年最大试点等效：13.7个（1,232÷90人天/试点）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年固定人员成本：1,188万（FDE 576+平台360+销售252）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90天可变交付成本：60万（3试点×20万）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综合毛利率：约78%（含平台订阅高毛利部分）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盈亏平衡：约8个年度合同（8×150万=1,200万≈固定成本）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90天 GTM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销售漏斗 | 实施节奏 | 人员配置 | 风险控制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731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第1-15天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743200" cy="4572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线索开发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销售3人各负责1行业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目标30个有效线索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10家进入初步接触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3家进入方案演示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73152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第16-30天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11680"/>
            <a:ext cx="27432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方案演示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603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FDE 2人参与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5场方案演示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3家进入试点谈判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签约1家付费试点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73152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第31-60天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743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试点交付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603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 FDE驻场交付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第1个试点启动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签约第2个试点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完成1个场景验证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63040"/>
            <a:ext cx="731520" cy="457200"/>
          </a:xfrm>
          <a:prstGeom prst="roundRect">
            <a:avLst/>
          </a:prstGeom>
          <a:solidFill>
            <a:srgbClr val="E0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第61-90天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011680"/>
            <a:ext cx="2743200" cy="457200"/>
          </a:xfrm>
          <a:prstGeom prst="roundRect">
            <a:avLst/>
          </a:prstGeom>
          <a:solidFill>
            <a:srgbClr val="E0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验收与扩展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603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第1个试点验收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签约第3个试点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形成可复制案例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500万有效管线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5303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销售漏斗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30个有效线索 → 15家初步接触 → 8家方案演示 → 5家试点谈判 → 3个签约试点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转化率：线索→接触 50% | 接触→演示 53% | 演示→谈判 63% | 谈判→签约 60%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平均销售周期：60天（从首次接触到签约）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572000"/>
            <a:ext cx="5486400" cy="457200"/>
          </a:xfrm>
          <a:prstGeom prst="roundRect">
            <a:avLst/>
          </a:prstGeom>
          <a:solidFill>
            <a:srgbClr val="E0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风险控制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1206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1. 试点前签署数据安全协议与责任边界确认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2. FDE驻场期间日报+周报机制，客户可随时中止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3. 试点范围限定非核心决策流程，AI输出经人工审核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4. 单试点超45天或超2 FDE须管理层审批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5. 合规红线：不处理受监管数据、不代客决策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实施节奏与人员配置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8名FDE | 4名平台工程师 | 3名企业销售 | 90天节奏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5029200"/>
                <a:gridCol w="3200400"/>
              </a:tblGrid>
              <a:tr h="5715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人数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90天任务分配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关键交付物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2人×3试点=6人驻场交付 | 2人做售前支持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3个试点验收报告+流程文档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平台工程师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1人连接器开发 | 1人安全合规 | 2人平台运维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连接器组件+安全审计报告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企业销售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2人制造业 | 1人零售电商 | 各负责15个线索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3个签约合同+500万管线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931920"/>
            <a:ext cx="5303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实施节奏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第1周：客户启动会、系统访问授权、数据安全协议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第2-3周：工作流诊断、连接器配置、Agent定制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第4-6周：场景验证、用户培训、流程文档编写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第7周：验收测试、安全审计、客户签字确认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第8周起：交付总结、案例包装、复制方案输出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931920"/>
            <a:ext cx="548640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复制与规模化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4805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第1个试点：验证服务包模板和交付流程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第2-3个试点：复制模式，缩短交付周期至30-35天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第4个起：标准化服务包，FDE从2人降至1.5人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12个月目标：完成10个试点，形成2个行业解决方案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规模复制关键：连接器组件库、Agent模板库、培训体系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使用边界与操作类型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明确浏览器操作、电脑操作、API/连接器、人工审批与客户授权的边界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46304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286000"/>
                <a:gridCol w="1097280"/>
                <a:gridCol w="4114800"/>
              </a:tblGrid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操作类型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授权要求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风险等级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2F549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浏览器操作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网页研究、竞品分析、公开数据采集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无需客户授权（公开数据）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搜索行业报告、抓取公开价格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电脑操作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文档生成、数据分析、演示制作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客户授权指定电脑/系统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生成采购报告、制作汇报PPT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API/连接器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回写业务系统、数据同步、流程触发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客户IT部门授权+API密钥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写入ERP采购单、同步CRM数据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人工审批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涉及资金、合同、决策的最终确认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业务负责人审批+签字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采购审批、合同签署、付款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客户授权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数据访问、系统连接、Agent部署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书面授权+安全协议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系统访问、数据读取、Agent上线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53035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原则：FieldPilot AI 的所有操作遵循「最小授权 + 可审计 + 可中止」原则。高风险操作必须经人工审批，不得自动执行。</a:t>
            </a:r>
          </a:p>
          <a:p>
            <a:pPr>
              <a:defRPr sz="1100" b="1">
                <a:solidFill>
                  <a:srgbClr val="333333"/>
                </a:solidFill>
                <a:latin typeface="Microsoft YaHei"/>
              </a:defRPr>
            </a:pPr>
            <a:r>
              <a:t>合规红线：不处理受监管数据（金融交易、医疗诊断）；不代客决策；AI输出必须经人工审核后方可进入业务系统。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Microsoft YaHei"/>
              </a:defRPr>
            </a:pPr>
            <a:r>
              <a:t>合规与风险控制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F5496"/>
                </a:solidFill>
                <a:latin typeface="Microsoft YaHei"/>
              </a:defRPr>
            </a:pPr>
            <a:r>
              <a:t>受监管行业说明 | 数据安全 | 责任边界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数据安全与合规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1. 数据隔离：客户数据驻留客户环境，FieldPilot不存储原始业务数据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2. 传输加密：所有API通信使用TLS 1.2+，连接器使用客户密钥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3. 审计日志：所有Agent操作可追溯，日志保留≥180天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4. 权限治理：基于角色的访问控制（RBAC），最小权限原则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5. 数据分类：按敏感度分级，高敏感数据不出域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6. 合规对接：遵循《数据安全法》《个人信息保护法》要求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463040"/>
            <a:ext cx="5486400" cy="457200"/>
          </a:xfrm>
          <a:prstGeom prst="roundRect">
            <a:avLst/>
          </a:prstGeom>
          <a:solidFill>
            <a:srgbClr val="E0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受监管行业边界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金融服务（暂缓）：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高风险应用须风控委员会审批（金融监管总局指导意见）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个人信息不得用于模型训练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智能体须「辅助引导，不代客决策」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需网信部门备案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医疗健康（暂缓）：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AI医疗器械须注册审批（国家药监局）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医疗数据属敏感个人信息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「人机协同，以人为主」原则</a:t>
            </a:r>
          </a:p>
          <a:p>
            <a:pPr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• 试点周期预计超12个月，不适合45天试点模式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总结与下一步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确认优先行业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4C7E7"/>
                </a:solidFill>
                <a:latin typeface="Microsoft YaHei"/>
              </a:defRPr>
            </a:pPr>
            <a:r>
              <a:t>管理层审批制造业+零售电商为优先行业，暂缓金融与医疗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9748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97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启动首个试点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63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4C7E7"/>
                </a:solidFill>
                <a:latin typeface="Microsoft YaHei"/>
              </a:defRPr>
            </a:pPr>
            <a:r>
              <a:t>从10家目标企业中选定1家启动45天试点（建议制造业中型企业）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配置交付团队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4C7E7"/>
                </a:solidFill>
                <a:latin typeface="Microsoft YaHei"/>
              </a:defRPr>
            </a:pPr>
            <a:r>
              <a:t>指派2名FDE+1名平台工程师+1名销售组成首个交付小组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建立服务包模板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800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4C7E7"/>
                </a:solidFill>
                <a:latin typeface="Microsoft YaHei"/>
              </a:defRPr>
            </a:pPr>
            <a:r>
              <a:t>标准化FDE服务包、连接器组件库和Agent模板库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90天里程碑评审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4C7E7"/>
                </a:solidFill>
                <a:latin typeface="Microsoft YaHei"/>
              </a:defRPr>
            </a:pPr>
            <a:r>
              <a:t>90天后评审3个试点进展、500万管线达成率和毛利率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DA0B5"/>
                </a:solidFill>
                <a:latin typeface="Microsoft YaHei"/>
              </a:defRPr>
            </a:pPr>
            <a:r>
              <a:t>FieldPilot AI — FDE 商业化方案  |  2026年8月  |  详见 01-04 附件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